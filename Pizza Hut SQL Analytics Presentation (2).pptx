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83" autoAdjust="0"/>
  </p:normalViewPr>
  <p:slideViewPr>
    <p:cSldViewPr snapToGrid="0" snapToObjects="1">
      <p:cViewPr varScale="1">
        <p:scale>
          <a:sx n="104" d="100"/>
          <a:sy n="104" d="100"/>
        </p:scale>
        <p:origin x="114" y="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11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3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11.png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7.png"/><Relationship Id="rId7" Type="http://schemas.openxmlformats.org/officeDocument/2006/relationships/image" Target="../media/image7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10" Type="http://schemas.openxmlformats.org/officeDocument/2006/relationships/image" Target="../media/image92.png"/><Relationship Id="rId4" Type="http://schemas.openxmlformats.org/officeDocument/2006/relationships/image" Target="../media/image88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87.png"/><Relationship Id="rId7" Type="http://schemas.openxmlformats.org/officeDocument/2006/relationships/image" Target="../media/image4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7.png"/><Relationship Id="rId5" Type="http://schemas.openxmlformats.org/officeDocument/2006/relationships/image" Target="../media/image94.png"/><Relationship Id="rId10" Type="http://schemas.openxmlformats.org/officeDocument/2006/relationships/image" Target="../media/image96.png"/><Relationship Id="rId4" Type="http://schemas.openxmlformats.org/officeDocument/2006/relationships/image" Target="../media/image93.png"/><Relationship Id="rId9" Type="http://schemas.openxmlformats.org/officeDocument/2006/relationships/image" Target="../media/image9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7.png"/><Relationship Id="rId7" Type="http://schemas.openxmlformats.org/officeDocument/2006/relationships/image" Target="../media/image10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99.png"/><Relationship Id="rId10" Type="http://schemas.openxmlformats.org/officeDocument/2006/relationships/image" Target="../media/image101.png"/><Relationship Id="rId4" Type="http://schemas.openxmlformats.org/officeDocument/2006/relationships/image" Target="../media/image98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10" Type="http://schemas.openxmlformats.org/officeDocument/2006/relationships/image" Target="../media/image20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949499"/>
            <a:ext cx="2500312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351287"/>
            <a:ext cx="6503640" cy="557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5165" y="1666875"/>
            <a:ext cx="4526309" cy="3524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415" y="1762125"/>
            <a:ext cx="4335809" cy="3333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8540" y="4267200"/>
            <a:ext cx="3859559" cy="590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2406699"/>
            <a:ext cx="6828822" cy="10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0" i="0" u="none" dirty="0">
                <a:solidFill>
                  <a:srgbClr val="FFFFFF"/>
                </a:solidFill>
                <a:latin typeface="Poppins ExtraBold"/>
              </a:rPr>
              <a:t>Pizza Hut Sales </a:t>
            </a:r>
            <a:r>
              <a:rPr dirty="0"/>
              <a:t>
</a:t>
            </a:r>
            <a:r>
              <a:rPr sz="3450" b="0" i="0" u="none" dirty="0">
                <a:solidFill>
                  <a:srgbClr val="E11D48"/>
                </a:solidFill>
                <a:latin typeface="Poppins ExtraBold"/>
              </a:rPr>
              <a:t>Analytics &amp;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3566666"/>
            <a:ext cx="650364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An end-to-end relational database investigation using MySQL Workbench to analyze sales performance, order patterns, and top revenue drivers.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2030462"/>
            <a:ext cx="109537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775" y="4551312"/>
            <a:ext cx="1428750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 SemiBold"/>
              </a:rPr>
              <a:t>Environment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 MySQL Workbench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5025" y="4587031"/>
            <a:ext cx="9525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05050" y="4551312"/>
            <a:ext cx="1552575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 SemiBold"/>
              </a:rPr>
              <a:t>Scope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 13 Analytical Queries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4240" y="1885950"/>
            <a:ext cx="4088159" cy="3048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32365" y="4391025"/>
            <a:ext cx="361190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Poppins SemiBold"/>
              </a:rPr>
              <a:t>Data-Driven Revenue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2365" y="4591050"/>
            <a:ext cx="361190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8BDF8"/>
                </a:solidFill>
                <a:latin typeface="Inter"/>
              </a:rPr>
              <a:t>Transforming Raw Data into Business Strategy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4746575"/>
            <a:ext cx="13335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05050" y="4746575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14587"/>
            <a:ext cx="3613100" cy="2695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375" y="2414587"/>
            <a:ext cx="3613100" cy="2695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975" y="2414587"/>
            <a:ext cx="3613249" cy="2695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1087" y="428625"/>
            <a:ext cx="11110912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Project Architecture &amp; Pipeline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57200"/>
            <a:ext cx="481012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652712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3224212"/>
            <a:ext cx="329369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oppins"/>
              </a:rPr>
              <a:t>1. Data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576637"/>
            <a:ext cx="31368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Normalized transactional pizza dataset transformed from flat files into MySQL structured tables.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7500" y="2652712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7500" y="3224212"/>
            <a:ext cx="329369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oppins"/>
              </a:rPr>
              <a:t>2. SQL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7500" y="3576637"/>
            <a:ext cx="31368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Crafted robust queries categorized across three progressive difficulty tiers.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100" y="2652712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31100" y="3224212"/>
            <a:ext cx="329384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oppins"/>
              </a:rPr>
              <a:t>3. Executive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100" y="3576637"/>
            <a:ext cx="313699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Extracted key operational metrics to guide inventory and marketing decisions.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767012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2500" y="4081462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4 Interconnected relational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4376737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48,000+ transactional order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672012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Clean primary &amp; foreign key constraints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987" y="2767012"/>
            <a:ext cx="23812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56100" y="4081462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Inter"/>
              </a:rPr>
              <a:t>Basic: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Aggregations &amp; 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6100" y="4376737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FBBF24"/>
                </a:solidFill>
                <a:latin typeface="Inter"/>
              </a:rPr>
              <a:t>Intermediate: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Joins &amp; Subqueries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6100" y="4672012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FB7185"/>
                </a:solidFill>
                <a:latin typeface="Inter"/>
              </a:rPr>
              <a:t>Advanced: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CTEs &amp; Window Functions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5400" y="2767012"/>
            <a:ext cx="190500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59700" y="4081462"/>
            <a:ext cx="29083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Identify peak hourly rush periods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9700" y="4376737"/>
            <a:ext cx="29083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Optimize pizza category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9700" y="4672012"/>
            <a:ext cx="29083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Maximize top-line revenue growth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4100512"/>
            <a:ext cx="66675" cy="15716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4395787"/>
            <a:ext cx="66675" cy="157162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4691062"/>
            <a:ext cx="66675" cy="15716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7500" y="4100512"/>
            <a:ext cx="66675" cy="15716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7500" y="4395787"/>
            <a:ext cx="66675" cy="15716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7500" y="4691062"/>
            <a:ext cx="66675" cy="15716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1100" y="4100512"/>
            <a:ext cx="66675" cy="157162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1100" y="4395787"/>
            <a:ext cx="66675" cy="157162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1100" y="4691062"/>
            <a:ext cx="66675" cy="1571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520255"/>
            <a:ext cx="4920555" cy="895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080" y="1304925"/>
            <a:ext cx="2940397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27" y="1304925"/>
            <a:ext cx="2940397" cy="2390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080" y="3829050"/>
            <a:ext cx="2940397" cy="2390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27" y="3829050"/>
            <a:ext cx="2940397" cy="23907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4120455"/>
            <a:ext cx="2403127" cy="88389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3202" y="4120455"/>
            <a:ext cx="2403127" cy="88389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4491930"/>
            <a:ext cx="2117377" cy="29334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6077" y="4491930"/>
            <a:ext cx="2117377" cy="2933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1087" y="428625"/>
            <a:ext cx="11110912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Relational Database Schema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457200"/>
            <a:ext cx="481012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5775" y="3568005"/>
            <a:ext cx="492055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The schema centers around transactional order logs linking order items directly to menu pricing and categorical metadata.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2653605"/>
            <a:ext cx="4556506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B7185"/>
                </a:solidFill>
                <a:latin typeface="Poppins"/>
              </a:rPr>
              <a:t>Database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2910780"/>
            <a:ext cx="453955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2E8F0"/>
                </a:solidFill>
                <a:latin typeface="Inter"/>
              </a:rPr>
              <a:t>Designed a highly normalized schema (3NF) to eliminate data redundancy and preserve transactional integrity across order processing.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2655" y="1466850"/>
            <a:ext cx="198789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E11D48"/>
                </a:solidFill>
                <a:latin typeface="Inter"/>
              </a:rPr>
              <a:t> orders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4005" y="1828800"/>
            <a:ext cx="2616547" cy="1281112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854005" y="1828800"/>
          <a:ext cx="2607021" cy="1281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037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 order_id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INT (PK)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208127" y="1459705"/>
            <a:ext cx="153069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Inter"/>
              </a:rPr>
              <a:t> </a:t>
            </a:r>
            <a:r>
              <a:rPr sz="1200" b="1" i="0" u="none" dirty="0" err="1">
                <a:solidFill>
                  <a:srgbClr val="0284C7"/>
                </a:solidFill>
                <a:latin typeface="Inter"/>
              </a:rPr>
              <a:t>order_details</a:t>
            </a:r>
            <a:endParaRPr sz="1200" b="1" i="0" u="none" dirty="0">
              <a:solidFill>
                <a:srgbClr val="0284C7"/>
              </a:solidFill>
              <a:latin typeface="Inter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927752" y="1828800"/>
            <a:ext cx="2616547" cy="170497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927752" y="1828800"/>
          <a:ext cx="2607021" cy="1704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 order_details_id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INT (PK)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order_id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INT (FK)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pizza_id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TEXT (FK)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24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quantity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92180" y="3990975"/>
            <a:ext cx="1978372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Inter"/>
              </a:rPr>
              <a:t> pizzas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4005" y="4352925"/>
            <a:ext cx="2616547" cy="170497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854005" y="4352925"/>
          <a:ext cx="2607021" cy="1704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5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 pizza_id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TEXT (PK)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pizza_type_id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TEXT (FK)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24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price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DOUBLE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9233667" y="3963725"/>
            <a:ext cx="1597372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F59E0B"/>
                </a:solidFill>
                <a:latin typeface="Inter"/>
              </a:rPr>
              <a:t> </a:t>
            </a:r>
            <a:r>
              <a:rPr sz="1200" b="1" i="0" u="none" dirty="0" err="1">
                <a:solidFill>
                  <a:srgbClr val="F59E0B"/>
                </a:solidFill>
                <a:latin typeface="Inter"/>
              </a:rPr>
              <a:t>pizza_types</a:t>
            </a:r>
            <a:endParaRPr sz="1200" b="1" i="0" u="none" dirty="0">
              <a:solidFill>
                <a:srgbClr val="F59E0B"/>
              </a:solidFill>
              <a:latin typeface="Inter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927752" y="4352925"/>
            <a:ext cx="2616547" cy="170497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927752" y="4352925"/>
          <a:ext cx="2607021" cy="1704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 pizza_type_id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TEXT (PK)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24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ingredients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2691705"/>
            <a:ext cx="12382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8650" y="4263330"/>
            <a:ext cx="211737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Inter Medium"/>
              </a:rPr>
              <a:t>TOTAL TABLES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6077" y="4263330"/>
            <a:ext cx="211737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Inter Medium"/>
              </a:rPr>
              <a:t>PRIMARY KEYS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0927" y="1466850"/>
            <a:ext cx="809625" cy="2667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858767" y="2247900"/>
            <a:ext cx="1373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232600" y="2247900"/>
            <a:ext cx="12331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25148" y="1428750"/>
            <a:ext cx="809625" cy="2667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8932515" y="2247900"/>
            <a:ext cx="155227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484792" y="2247900"/>
            <a:ext cx="10547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60927" y="3990975"/>
            <a:ext cx="809625" cy="2667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5858767" y="4772025"/>
            <a:ext cx="1401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260133" y="4772025"/>
            <a:ext cx="1205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38824" y="3943665"/>
            <a:ext cx="809625" cy="26670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8932515" y="4772025"/>
            <a:ext cx="147577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408294" y="4772025"/>
            <a:ext cx="11312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54005" y="1521618"/>
            <a:ext cx="142875" cy="142875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5858767" y="2671762"/>
            <a:ext cx="1373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232600" y="2671762"/>
            <a:ext cx="12331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232600" y="3095625"/>
            <a:ext cx="12331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27752" y="1521618"/>
            <a:ext cx="142875" cy="142875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8932515" y="2671762"/>
            <a:ext cx="155227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484792" y="2671762"/>
            <a:ext cx="10547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932515" y="3095625"/>
            <a:ext cx="155227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484792" y="3095625"/>
            <a:ext cx="10547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484792" y="3519487"/>
            <a:ext cx="10547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4005" y="4045743"/>
            <a:ext cx="142875" cy="142875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5858767" y="5195887"/>
            <a:ext cx="1401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260133" y="5195887"/>
            <a:ext cx="1205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858767" y="5619750"/>
            <a:ext cx="1401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260133" y="5619750"/>
            <a:ext cx="1205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60133" y="6043612"/>
            <a:ext cx="1205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27752" y="4045743"/>
            <a:ext cx="142875" cy="142875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8932515" y="5195887"/>
            <a:ext cx="147577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408294" y="5195887"/>
            <a:ext cx="11312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932515" y="5619750"/>
            <a:ext cx="147577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408294" y="5619750"/>
            <a:ext cx="11312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408294" y="6043612"/>
            <a:ext cx="11312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6" y="57104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030759"/>
            <a:ext cx="5467350" cy="16363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857625"/>
            <a:ext cx="5467350" cy="214601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802284"/>
            <a:ext cx="5029200" cy="398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4629150"/>
            <a:ext cx="5029200" cy="3981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2512" y="428625"/>
            <a:ext cx="1113948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Basic Queries: Orders &amp; Total Revenue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57200"/>
            <a:ext cx="452437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850" y="2573684"/>
            <a:ext cx="5029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TOTAL ORDERS EXECUTED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" y="3276600"/>
            <a:ext cx="5029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 dirty="0">
                <a:solidFill>
                  <a:srgbClr val="94A3B8"/>
                </a:solidFill>
                <a:latin typeface="Inter"/>
              </a:rPr>
              <a:t>Derived via SELECT COUNT(</a:t>
            </a:r>
            <a:r>
              <a:rPr sz="900" b="0" i="0" u="none" dirty="0" err="1">
                <a:solidFill>
                  <a:srgbClr val="94A3B8"/>
                </a:solidFill>
                <a:latin typeface="Inter"/>
              </a:rPr>
              <a:t>order_id</a:t>
            </a:r>
            <a:r>
              <a:rPr sz="900" b="0" i="0" u="none" dirty="0">
                <a:solidFill>
                  <a:srgbClr val="94A3B8"/>
                </a:solidFill>
                <a:latin typeface="Inter"/>
              </a:rPr>
              <a:t>) FROM orders;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4400550"/>
            <a:ext cx="5029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TOTAL TOP-LINE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5103465"/>
            <a:ext cx="5029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Calculated by joining order_details &amp; pizzas prices.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12D2160-2F81-5367-23E8-22F38112BF6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2851"/>
          <a:stretch>
            <a:fillRect/>
          </a:stretch>
        </p:blipFill>
        <p:spPr>
          <a:xfrm>
            <a:off x="6095584" y="2030759"/>
            <a:ext cx="5953956" cy="16363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F08BB5E-05E8-41E2-6690-8F93E78565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9697"/>
          <a:stretch>
            <a:fillRect/>
          </a:stretch>
        </p:blipFill>
        <p:spPr>
          <a:xfrm>
            <a:off x="6095999" y="3857626"/>
            <a:ext cx="5953541" cy="21460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62" y="1185863"/>
            <a:ext cx="5467350" cy="24050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652" y="4071937"/>
            <a:ext cx="5467350" cy="25003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93" y="2019299"/>
            <a:ext cx="4991100" cy="895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3972" y="5565538"/>
            <a:ext cx="4991100" cy="95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0180" y="5932250"/>
            <a:ext cx="4142482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6999" y="6334125"/>
            <a:ext cx="3793182" cy="95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2512" y="428625"/>
            <a:ext cx="1113948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Basic Queries: Pricing &amp; Size Demands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457200"/>
            <a:ext cx="452437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1993" y="1257300"/>
            <a:ext cx="49911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FBBF24"/>
                </a:solidFill>
                <a:latin typeface="Inter"/>
              </a:rPr>
              <a:t>$35.95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993" y="1560909"/>
            <a:ext cx="524065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FFFFF"/>
                </a:solidFill>
                <a:latin typeface="Poppins"/>
              </a:rPr>
              <a:t>Highest-Priced Pizza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993" y="1762124"/>
            <a:ext cx="49911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4A3B8"/>
                </a:solidFill>
                <a:latin typeface="Inter"/>
              </a:rPr>
              <a:t>Determined by ordering the pizzas database by price DESC with a limit of 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166456"/>
            <a:ext cx="49911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38BDF8"/>
                </a:solidFill>
                <a:latin typeface="Inter"/>
              </a:rPr>
              <a:t>Large (L)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0180" y="4521897"/>
            <a:ext cx="524065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FFFFF"/>
                </a:solidFill>
                <a:latin typeface="Poppins"/>
              </a:rPr>
              <a:t>Most Common Size Ordered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" y="2052638"/>
            <a:ext cx="4590573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 dirty="0">
                <a:solidFill>
                  <a:srgbClr val="FB7185"/>
                </a:solidFill>
                <a:latin typeface="Poppins"/>
              </a:rPr>
              <a:t>The Greek Pizza (XXL)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326" y="2475110"/>
            <a:ext cx="46101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E2E8F0"/>
                </a:solidFill>
                <a:latin typeface="Inter"/>
              </a:rPr>
              <a:t>Commands the top price point on the menu, catering to large group orders and premium catering.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326" y="2084784"/>
            <a:ext cx="16192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60180" y="5344617"/>
            <a:ext cx="49911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CBD5E1"/>
                </a:solidFill>
                <a:latin typeface="Inter Medium"/>
              </a:rPr>
              <a:t>Large (L)</a:t>
            </a:r>
            <a:r>
              <a:rPr sz="975" b="0" i="0" u="none" dirty="0">
                <a:solidFill>
                  <a:srgbClr val="FB7185"/>
                </a:solidFill>
                <a:latin typeface="Inter Medium"/>
              </a:rPr>
              <a:t>18,526 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0180" y="5710455"/>
            <a:ext cx="49911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CBD5E1"/>
                </a:solidFill>
                <a:latin typeface="Inter Medium"/>
              </a:rPr>
              <a:t>Medium (M)15,385 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0180" y="6116241"/>
            <a:ext cx="49911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CBD5E1"/>
                </a:solidFill>
                <a:latin typeface="Inter Medium"/>
              </a:rPr>
              <a:t>Small (S)14,137 orders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CD94BD8-0294-1977-6418-C337C8F5747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30937"/>
          <a:stretch>
            <a:fillRect/>
          </a:stretch>
        </p:blipFill>
        <p:spPr>
          <a:xfrm>
            <a:off x="6362199" y="1185864"/>
            <a:ext cx="5467350" cy="24046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131F12E-20F9-9947-9009-B32E016E4FE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44537"/>
          <a:stretch>
            <a:fillRect/>
          </a:stretch>
        </p:blipFill>
        <p:spPr>
          <a:xfrm>
            <a:off x="533163" y="4071937"/>
            <a:ext cx="5467350" cy="25003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483" y="942975"/>
            <a:ext cx="6287541" cy="5716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586162"/>
            <a:ext cx="4647158" cy="895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477" y="1303876"/>
            <a:ext cx="5811291" cy="95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477" y="1664635"/>
            <a:ext cx="5811291" cy="95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474" y="2032230"/>
            <a:ext cx="5811291" cy="95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473" y="2371710"/>
            <a:ext cx="5811291" cy="95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570" y="2759867"/>
            <a:ext cx="5811291" cy="95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1476" y="1303876"/>
            <a:ext cx="5811291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1477" y="1664635"/>
            <a:ext cx="5171926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1475" y="2015869"/>
            <a:ext cx="5230117" cy="95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1477" y="2371710"/>
            <a:ext cx="5520630" cy="95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9572" y="2747731"/>
            <a:ext cx="4648944" cy="95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2512" y="428625"/>
            <a:ext cx="1113948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Intermediate Query: Peak Hourly Distribution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" y="457200"/>
            <a:ext cx="452437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2595562"/>
            <a:ext cx="487951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oppins"/>
              </a:rPr>
              <a:t>Hourly Order Rush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775" y="3024187"/>
            <a:ext cx="4647158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Extracted the hour component from order timestamps using HOUR(time) to identify critical operation peaks throughout the operating 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5325" y="1019174"/>
            <a:ext cx="610185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CBD5E1"/>
                </a:solidFill>
                <a:latin typeface="Poppins"/>
              </a:rPr>
              <a:t>Orders Handled by Hour of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3719512"/>
            <a:ext cx="4269439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B7185"/>
                </a:solidFill>
                <a:latin typeface="Poppins"/>
              </a:rPr>
              <a:t>Operational Rush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3976687"/>
            <a:ext cx="426615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E2E8F0"/>
                </a:solidFill>
                <a:latin typeface="Inter"/>
              </a:rPr>
              <a:t>Lunch Peak:</a:t>
            </a:r>
            <a:r>
              <a:rPr sz="975" b="0" i="0" u="none">
                <a:solidFill>
                  <a:srgbClr val="E2E8F0"/>
                </a:solidFill>
                <a:latin typeface="Inter"/>
              </a:rPr>
              <a:t> 12:00 PM – 1:00 PM (2,520+ orders)</a:t>
            </a:r>
            <a:r>
              <a:t>
</a:t>
            </a:r>
            <a:r>
              <a:rPr sz="975" b="1" i="0" u="none">
                <a:solidFill>
                  <a:srgbClr val="E2E8F0"/>
                </a:solidFill>
                <a:latin typeface="Inter"/>
              </a:rPr>
              <a:t>Dinner Peak:</a:t>
            </a:r>
            <a:r>
              <a:rPr sz="975" b="0" i="0" u="none">
                <a:solidFill>
                  <a:srgbClr val="E2E8F0"/>
                </a:solidFill>
                <a:latin typeface="Inter"/>
              </a:rPr>
              <a:t> 5:00 PM – 7:00 PM (2,390+ orders)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375" y="4633912"/>
            <a:ext cx="441855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Optimizes kitchen prep schedules during transition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4929187"/>
            <a:ext cx="441855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Guides shift staffing density for maximum throughput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325" y="3757612"/>
            <a:ext cx="12382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775" y="4652962"/>
            <a:ext cx="66675" cy="1571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775" y="4948237"/>
            <a:ext cx="66675" cy="15716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11477" y="1119186"/>
            <a:ext cx="5811291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CBD5E1"/>
                </a:solidFill>
                <a:latin typeface="Inter Medium"/>
              </a:rPr>
              <a:t>12:00 PM (Lunch Rush)</a:t>
            </a:r>
            <a:r>
              <a:rPr sz="975" b="1" i="0" u="none" dirty="0">
                <a:solidFill>
                  <a:srgbClr val="FB7185"/>
                </a:solidFill>
                <a:latin typeface="Inter"/>
              </a:rPr>
              <a:t>2,520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1477" y="1834279"/>
            <a:ext cx="5811291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CBD5E1"/>
                </a:solidFill>
                <a:latin typeface="Inter Medium"/>
              </a:rPr>
              <a:t>05:00 PM2,270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11477" y="2195512"/>
            <a:ext cx="5811291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 Medium"/>
              </a:rPr>
              <a:t>06:00 PM (Dinner Rush)</a:t>
            </a:r>
            <a:r>
              <a:rPr sz="975" b="1" i="0" u="none">
                <a:solidFill>
                  <a:srgbClr val="FB7185"/>
                </a:solidFill>
                <a:latin typeface="Inter"/>
              </a:rPr>
              <a:t>2,392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99571" y="2579069"/>
            <a:ext cx="5811291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 Medium"/>
              </a:rPr>
              <a:t>07:00 PM2,020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269E16-046D-978B-6C87-7F8B399EFD4F}"/>
              </a:ext>
            </a:extLst>
          </p:cNvPr>
          <p:cNvSpPr txBox="1"/>
          <p:nvPr/>
        </p:nvSpPr>
        <p:spPr>
          <a:xfrm>
            <a:off x="5511475" y="1473161"/>
            <a:ext cx="5811291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CBD5E1"/>
                </a:solidFill>
                <a:latin typeface="Inter Medium"/>
              </a:rPr>
              <a:t>01:00 PM2,260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01E0C4E-6A9C-A2A6-03B8-8B1D618BD26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61067" y="3078785"/>
            <a:ext cx="5220429" cy="35601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975270"/>
            <a:ext cx="5467350" cy="23590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25" y="3667054"/>
            <a:ext cx="5467350" cy="15125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764" y="5543210"/>
            <a:ext cx="5467350" cy="895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366" y="4352015"/>
            <a:ext cx="5029200" cy="39811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836099"/>
            <a:ext cx="4991100" cy="95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043" y="2205742"/>
            <a:ext cx="4991100" cy="95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575529"/>
            <a:ext cx="4991100" cy="95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897" y="2963716"/>
            <a:ext cx="4991100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043" y="1826574"/>
            <a:ext cx="4991100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043" y="2184901"/>
            <a:ext cx="3992760" cy="95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043" y="2573610"/>
            <a:ext cx="3893046" cy="95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043" y="2972952"/>
            <a:ext cx="3693318" cy="95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1087" y="428625"/>
            <a:ext cx="11110912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Category Volumes &amp; Daily Average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" y="457200"/>
            <a:ext cx="481012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3897" y="1307997"/>
            <a:ext cx="524065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oppins"/>
              </a:rPr>
              <a:t>Total Pizzas Sold by 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5562" y="4069618"/>
            <a:ext cx="5029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 Medium"/>
              </a:rPr>
              <a:t>AVERAGE PIZZAS PREPARED PER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366" y="4854785"/>
            <a:ext cx="5029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Grouped by order date and averaged across the entire operating timeline.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240" y="5645480"/>
            <a:ext cx="5150643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B7185"/>
                </a:solidFill>
                <a:latin typeface="Poppins"/>
              </a:rPr>
              <a:t>Operational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240" y="5990885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2E8F0"/>
                </a:solidFill>
                <a:latin typeface="Inter"/>
              </a:rPr>
              <a:t>Classic pizzas lead volume by a wide margin, representing over 29% of total physical unit sales.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897" y="1595072"/>
            <a:ext cx="49911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 Medium"/>
              </a:rPr>
              <a:t>Classic Category</a:t>
            </a:r>
            <a:r>
              <a:rPr sz="975" b="0" i="0" u="none">
                <a:solidFill>
                  <a:srgbClr val="FB7185"/>
                </a:solidFill>
                <a:latin typeface="Inter Medium"/>
              </a:rPr>
              <a:t>14,888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897" y="1987964"/>
            <a:ext cx="49911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 Medium"/>
              </a:rPr>
              <a:t>Supreme Category11,987 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2359298"/>
            <a:ext cx="49911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 Medium"/>
              </a:rPr>
              <a:t>Veggie Category11,649 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897" y="2749404"/>
            <a:ext cx="49911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 Medium"/>
              </a:rPr>
              <a:t>Chicken Category11,050 items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5562" y="5683579"/>
            <a:ext cx="104775" cy="1428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E884A48-5A4C-114F-1966-06B6240AD82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b="27187"/>
          <a:stretch>
            <a:fillRect/>
          </a:stretch>
        </p:blipFill>
        <p:spPr>
          <a:xfrm>
            <a:off x="469108" y="3667054"/>
            <a:ext cx="5467348" cy="277150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202400B-49B7-BF25-9BAD-4F55752DAD3B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b="35884"/>
          <a:stretch>
            <a:fillRect/>
          </a:stretch>
        </p:blipFill>
        <p:spPr>
          <a:xfrm>
            <a:off x="6236494" y="993106"/>
            <a:ext cx="5442096" cy="23103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76161"/>
            <a:ext cx="5467350" cy="336261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686050"/>
            <a:ext cx="5467350" cy="895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726623"/>
            <a:ext cx="5448300" cy="352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4887" y="428625"/>
            <a:ext cx="11187112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Query #10: Top 3 Revenue Champions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57200"/>
            <a:ext cx="404812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2286000"/>
            <a:ext cx="574071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oppins"/>
              </a:rPr>
              <a:t>Top 3 Pizzas by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5775" y="3733800"/>
            <a:ext cx="5467350" cy="170497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5775" y="3733800"/>
          <a:ext cx="5457824" cy="1704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9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Rank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Pizza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Revenue ($)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#1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Inter"/>
                        </a:rPr>
                        <a:t>The Thai Chicken Pizza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4D399"/>
                          </a:solidFill>
                          <a:latin typeface="Inter"/>
                        </a:rPr>
                        <a:t>$43,434.25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#2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Inter"/>
                        </a:rPr>
                        <a:t>The Barbecue Chicken Pizza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4D399"/>
                          </a:solidFill>
                          <a:latin typeface="Inter"/>
                        </a:rPr>
                        <a:t>$42,768.00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24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#3</a:t>
                      </a:r>
                    </a:p>
                  </a:txBody>
                  <a:tcPr marL="2095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Inter"/>
                        </a:rPr>
                        <a:t>The California Chicken Pizza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4D399"/>
                          </a:solidFill>
                          <a:latin typeface="Inter"/>
                        </a:rPr>
                        <a:t>$41,409.50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2819400"/>
            <a:ext cx="5110638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B7185"/>
                </a:solidFill>
                <a:latin typeface="Poppins"/>
              </a:rPr>
              <a:t>Key Revenue 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3076575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2E8F0"/>
                </a:solidFill>
                <a:latin typeface="Inter"/>
              </a:rPr>
              <a:t>Aggregated total sales value by multiplying individual unit price with ordered quantities.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537" y="4152900"/>
            <a:ext cx="9298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420415" y="4152900"/>
            <a:ext cx="29595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0011" y="4152900"/>
            <a:ext cx="15683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15450" y="1869209"/>
            <a:ext cx="2133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Fira Code"/>
              </a:rPr>
              <a:t>Query_10_Top3_Revenue_Pizzas.sql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857500"/>
            <a:ext cx="142875" cy="14287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90537" y="4576762"/>
            <a:ext cx="9298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20415" y="4576762"/>
            <a:ext cx="29595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0011" y="4576762"/>
            <a:ext cx="15683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0537" y="5000625"/>
            <a:ext cx="9298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420415" y="5000625"/>
            <a:ext cx="29595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0011" y="5000625"/>
            <a:ext cx="15683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733925"/>
            <a:ext cx="123825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4310062"/>
            <a:ext cx="142875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157787"/>
            <a:ext cx="95250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4310062"/>
            <a:ext cx="142875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733925"/>
            <a:ext cx="123825" cy="1238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157787"/>
            <a:ext cx="95250" cy="1238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A072C2E-397F-D6BF-2EAD-EC3AADF5474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30398"/>
          <a:stretch>
            <a:fillRect/>
          </a:stretch>
        </p:blipFill>
        <p:spPr>
          <a:xfrm>
            <a:off x="6219088" y="2133000"/>
            <a:ext cx="5277587" cy="3305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725662"/>
            <a:ext cx="5467350" cy="407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366962"/>
            <a:ext cx="5467350" cy="2638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735187"/>
            <a:ext cx="5448300" cy="371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106662"/>
            <a:ext cx="5448300" cy="368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1087" y="428625"/>
            <a:ext cx="11110912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Query #11: Percentage Revenue Contribution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57200"/>
            <a:ext cx="481012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2805112"/>
            <a:ext cx="524065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oppins"/>
              </a:rPr>
              <a:t>Category Revenue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138487"/>
            <a:ext cx="49911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Calculated the percentage share of each category relative to total overall revenue using nested subqueries.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2182862"/>
            <a:ext cx="5295900" cy="353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2500" y="3624262"/>
            <a:ext cx="47625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Classic: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050" b="1" i="0" u="none">
                <a:solidFill>
                  <a:srgbClr val="FB7185"/>
                </a:solidFill>
                <a:latin typeface="Inter"/>
              </a:rPr>
              <a:t>26.91%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($220,053)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933825"/>
            <a:ext cx="47625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Supreme: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050" b="1" i="0" u="none">
                <a:solidFill>
                  <a:srgbClr val="FBBF24"/>
                </a:solidFill>
                <a:latin typeface="Inter"/>
              </a:rPr>
              <a:t>25.46%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($208,197)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4243387"/>
            <a:ext cx="47625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Chicken: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050" b="1" i="0" u="none">
                <a:solidFill>
                  <a:srgbClr val="38BDF8"/>
                </a:solidFill>
                <a:latin typeface="Inter"/>
              </a:rPr>
              <a:t>23.96%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($195,919)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552950"/>
            <a:ext cx="47625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Veggie: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050" b="1" i="0" u="none">
                <a:solidFill>
                  <a:srgbClr val="34D399"/>
                </a:solidFill>
                <a:latin typeface="Inter"/>
              </a:rPr>
              <a:t>23.68%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($193,690)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643312"/>
            <a:ext cx="66675" cy="157162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952875"/>
            <a:ext cx="66675" cy="15716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4262437"/>
            <a:ext cx="66675" cy="157162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4572000"/>
            <a:ext cx="66675" cy="1571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93FE01-5036-250A-5317-293071921EF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23172"/>
          <a:stretch>
            <a:fillRect/>
          </a:stretch>
        </p:blipFill>
        <p:spPr>
          <a:xfrm>
            <a:off x="6315074" y="2182862"/>
            <a:ext cx="5305425" cy="3530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725662"/>
            <a:ext cx="5467350" cy="407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490787"/>
            <a:ext cx="5467350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735187"/>
            <a:ext cx="5448300" cy="371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106662"/>
            <a:ext cx="5448300" cy="368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3748087"/>
            <a:ext cx="4991100" cy="895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1087" y="428625"/>
            <a:ext cx="11110912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Query #12: Cumulative Sales Over Time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457200"/>
            <a:ext cx="481012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2928937"/>
            <a:ext cx="524065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oppins"/>
              </a:rPr>
              <a:t>Running Total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3262312"/>
            <a:ext cx="49911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Leveraged SQL Window Function SUM() OVER (ORDER BY date) to analyze running revenue velocity across consecutive order dates.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2182862"/>
            <a:ext cx="5295900" cy="353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2525" y="3881437"/>
            <a:ext cx="4610576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B7185"/>
                </a:solidFill>
                <a:latin typeface="Poppins"/>
              </a:rPr>
              <a:t>Revenue Acceleration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4138612"/>
            <a:ext cx="46101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2E8F0"/>
                </a:solidFill>
                <a:latin typeface="Inter"/>
              </a:rPr>
              <a:t>Demonstrates remarkably consistent day-over-day growth, proving stable demand throughout the entire annual timeline.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" y="3919537"/>
            <a:ext cx="142875" cy="1428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2F08B3F-8E0A-FBAC-E7F9-C2FE3DFE43C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45222"/>
          <a:stretch>
            <a:fillRect/>
          </a:stretch>
        </p:blipFill>
        <p:spPr>
          <a:xfrm>
            <a:off x="6324600" y="2173336"/>
            <a:ext cx="5296180" cy="353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725662"/>
            <a:ext cx="5467350" cy="407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690812"/>
            <a:ext cx="5467350" cy="1990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942975"/>
            <a:ext cx="5553074" cy="371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106662"/>
            <a:ext cx="5448300" cy="368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2512" y="428625"/>
            <a:ext cx="1113948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Query #13: Top 3 Pizzas per Category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57200"/>
            <a:ext cx="452437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3128962"/>
            <a:ext cx="524065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oppins"/>
              </a:rPr>
              <a:t>Category Hero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462337"/>
            <a:ext cx="49911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Applied DENSE_RANK() OVER (PARTITION BY category ORDER BY revenue DESC) to rank revenue leaders within each specific category.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2182862"/>
            <a:ext cx="5295900" cy="353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2500" y="3948112"/>
            <a:ext cx="4762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Identifies menu category champions without cannibalization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243387"/>
            <a:ext cx="4762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Isolates low-performing items for potential menu revisions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967162"/>
            <a:ext cx="66675" cy="15716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4262437"/>
            <a:ext cx="66675" cy="1571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742BDA-226F-F5D0-3F58-8A497BD0B1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1" y="1390650"/>
            <a:ext cx="5543548" cy="52780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571750"/>
            <a:ext cx="361310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375" y="2571750"/>
            <a:ext cx="3613100" cy="2381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571750"/>
            <a:ext cx="3613249" cy="2381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4887" y="428625"/>
            <a:ext cx="11187112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Executive Business Recommendations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57200"/>
            <a:ext cx="404812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900" y="3228975"/>
            <a:ext cx="329369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oppins"/>
              </a:rPr>
              <a:t>1. Labor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552825"/>
            <a:ext cx="31368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Align shift capacity around key operational spikes: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00" y="3228975"/>
            <a:ext cx="329369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oppins"/>
              </a:rPr>
              <a:t>2. Inventory &amp;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7500" y="3552825"/>
            <a:ext cx="31368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Streamline ingredient purchasing toward high-demand items: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1100" y="3228975"/>
            <a:ext cx="329384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oppins"/>
              </a:rPr>
              <a:t>3. Menu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1100" y="3552825"/>
            <a:ext cx="3136999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Optimize top-line growth with targeted marketing: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857500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500" y="3833812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Scale staff during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12-1 PM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lunch rush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129087"/>
            <a:ext cx="2908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Ensure double coverage during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5-7 PM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dinner surge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7500" y="2857500"/>
            <a:ext cx="25717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56100" y="4019550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Prioritize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Large (L)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box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6100" y="4314825"/>
            <a:ext cx="2908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Maintain higher safety stock for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Classic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recipes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1100" y="2857500"/>
            <a:ext cx="257175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59700" y="3833812"/>
            <a:ext cx="29083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Feature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Chicken category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combo upsells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9700" y="4129087"/>
            <a:ext cx="29083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Re-evaluate lowest performing recipes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852862"/>
            <a:ext cx="66675" cy="15716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148137"/>
            <a:ext cx="66675" cy="157162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7500" y="4038600"/>
            <a:ext cx="66675" cy="15716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7500" y="4333875"/>
            <a:ext cx="66675" cy="1571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00" y="3852862"/>
            <a:ext cx="66675" cy="15716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00" y="4148137"/>
            <a:ext cx="66675" cy="1571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462" y="2068859"/>
            <a:ext cx="17430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4175" y="4274790"/>
            <a:ext cx="6343650" cy="514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95500" y="2545109"/>
            <a:ext cx="8001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0" i="0" u="none">
                <a:solidFill>
                  <a:srgbClr val="FFFFFF"/>
                </a:solidFill>
                <a:latin typeface="Poppins ExtraBold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383309"/>
            <a:ext cx="7620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Thank you for reviewing the Pizza Hut SQL Analytics Presentation. The database models and SQL scripts are fully verified and operational.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337" y="2149822"/>
            <a:ext cx="128587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48050" y="4436715"/>
            <a:ext cx="14668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u="none">
                <a:solidFill>
                  <a:srgbClr val="F8FAFC"/>
                </a:solidFill>
                <a:latin typeface="Inter"/>
              </a:rPr>
              <a:t>MySQL Workbench 8.0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0650" y="4436715"/>
            <a:ext cx="9525" cy="190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05475" y="4436715"/>
            <a:ext cx="12858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u="none">
                <a:solidFill>
                  <a:srgbClr val="F8FAFC"/>
                </a:solidFill>
                <a:latin typeface="Inter"/>
              </a:rPr>
              <a:t>13 Executed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77100" y="4436715"/>
            <a:ext cx="9525" cy="190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00975" y="4436715"/>
            <a:ext cx="11525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u="none">
                <a:solidFill>
                  <a:srgbClr val="F8FAFC"/>
                </a:solidFill>
                <a:latin typeface="Inter"/>
              </a:rPr>
              <a:t>Analysis Complete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4465290"/>
            <a:ext cx="11430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5925" y="4465290"/>
            <a:ext cx="1143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2375" y="4465290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6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428625"/>
            <a:ext cx="11706225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Image Sources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254B84-4D29-70F5-F31E-CBAA2D9FB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A9E56C-0B2F-6DB8-BDC1-BD2758225C80}"/>
              </a:ext>
            </a:extLst>
          </p:cNvPr>
          <p:cNvSpPr txBox="1"/>
          <p:nvPr/>
        </p:nvSpPr>
        <p:spPr>
          <a:xfrm>
            <a:off x="840509" y="812861"/>
            <a:ext cx="5061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Thank You</a:t>
            </a:r>
            <a:endParaRPr lang="en-IN" sz="44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882</Words>
  <Application>Microsoft Office PowerPoint</Application>
  <PresentationFormat>Widescreen</PresentationFormat>
  <Paragraphs>155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Algerian</vt:lpstr>
      <vt:lpstr>Arial</vt:lpstr>
      <vt:lpstr>Calibri</vt:lpstr>
      <vt:lpstr>Fira Code</vt:lpstr>
      <vt:lpstr>Inter</vt:lpstr>
      <vt:lpstr>Inter Medium</vt:lpstr>
      <vt:lpstr>Inter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Rahul Sakpal</dc:creator>
  <cp:keywords/>
  <dc:description>generated using python-pptx</dc:description>
  <cp:lastModifiedBy>Rahul Sakpal</cp:lastModifiedBy>
  <cp:revision>2</cp:revision>
  <dcterms:created xsi:type="dcterms:W3CDTF">2013-01-27T09:14:16Z</dcterms:created>
  <dcterms:modified xsi:type="dcterms:W3CDTF">2026-08-19T21:14:45Z</dcterms:modified>
  <cp:category/>
</cp:coreProperties>
</file>